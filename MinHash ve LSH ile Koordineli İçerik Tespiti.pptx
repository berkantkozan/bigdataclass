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greya Sans SC" charset="1" panose="00000500000000000000"/>
      <p:regular r:id="rId17"/>
    </p:embeddedFont>
    <p:embeddedFont>
      <p:font typeface="Alegreya Sans SC Bold" charset="1" panose="00000800000000000000"/>
      <p:regular r:id="rId18"/>
    </p:embeddedFont>
    <p:embeddedFont>
      <p:font typeface="Ailero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0980" y="2198951"/>
            <a:ext cx="13968571" cy="142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2"/>
              </a:lnSpc>
            </a:pPr>
            <a:r>
              <a:rPr lang="en-US" sz="4834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Büyük Veri Setlerinde Kopya ve Koordineli İçerik Tespiti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0980" y="4165634"/>
            <a:ext cx="9185706" cy="335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3"/>
              </a:lnSpc>
            </a:pPr>
            <a:r>
              <a:rPr lang="en-US" b="true" sz="5975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MinHash ve LSH Yaklaşımı</a:t>
            </a:r>
          </a:p>
          <a:p>
            <a:pPr algn="l" marL="0" indent="0" lvl="0">
              <a:lnSpc>
                <a:spcPts val="6393"/>
              </a:lnSpc>
            </a:pPr>
            <a:r>
              <a:rPr lang="en-US" b="true" sz="5975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Karesel Zaman Karmaşıklığının Olasılıksal Yöntemlerle Çözümü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81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7"/>
              </a:lnSpc>
            </a:pPr>
            <a:r>
              <a:rPr lang="en-US" b="true" sz="5146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 Tanımı ve Motivasyon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46495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Haber verilerinde intihal ve koordineli yayın artışı ciddi bir sorun haline gelmiştir</a:t>
            </a:r>
          </a:p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Geleneksel Jaccard Benzerliği yöntemi büyük ölçekte uygulanamaz</a:t>
            </a:r>
          </a:p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Karesel zaman karmaşıklığı O(N²) temel darboğazı oluşturmaktadır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9992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210.000 belgelik veri seti için yaklaşık 22 milyar eşleşme işlemi gerekmektedir</a:t>
            </a:r>
          </a:p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Kaba kuvvet yöntemi donanım sınırlarına çarpmaktadır</a:t>
            </a:r>
          </a:p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Ölçeklenebilir olasılıksal yöntemlere ihtiyaç kaçınılmazdır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47964"/>
            <a:ext cx="8531143" cy="65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</a:pPr>
            <a:r>
              <a:rPr lang="en-US" b="true" sz="4183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Araştırma Soruları ve Çözüm Önerisi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36970"/>
            <a:ext cx="10066336" cy="1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4"/>
              </a:lnSpc>
            </a:pPr>
            <a:r>
              <a:rPr lang="en-US" sz="3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RQ1: MinHash ve LSH mimarisi, kaba kuvvet yöntemine (O(N²)) göre hesaplama maliyetini ne ölçüde düşürür? 210.000 belgeli veri setinde ölçeklenebilirlik nasıl sağlanır?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0467"/>
            <a:ext cx="10066336" cy="1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4"/>
              </a:lnSpc>
            </a:pPr>
            <a:r>
              <a:rPr lang="en-US" sz="300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RQ2: LSH'in olasılıksal doğası, sınıflandırma metrikleri (F1, Recall, Precision) üzerinde nasıl bir takas (trade-off) yaratır? Çözüm Boru Hattı: K-Gram Shingling → MinHash → LSH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129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5"/>
              </a:lnSpc>
            </a:pPr>
            <a:r>
              <a:rPr lang="en-US" b="true" sz="435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Metodoloji I – Ön İşleme ve Boyut İndirgeme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35502"/>
            <a:ext cx="9894900" cy="311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2"/>
              </a:lnSpc>
            </a:pPr>
            <a:r>
              <a:rPr lang="en-US" sz="23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3-Gram (Trigram) Shingling: Metinler, üst üste binen üç kelimelik kümelere (shingle) ayrılarak küme gösterimi elde edilir.</a:t>
            </a:r>
          </a:p>
          <a:p>
            <a:pPr algn="ctr" marL="0" indent="0" lvl="0">
              <a:lnSpc>
                <a:spcPts val="3562"/>
              </a:lnSpc>
            </a:pPr>
            <a:r>
              <a:rPr lang="en-US" sz="23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MinHash İmza Matrisi: 100 farklı rastgele permütasyon uygulanarak her belge için 100 elemanlı sabit boyutlu bir imza vektörü üretilir.</a:t>
            </a:r>
          </a:p>
          <a:p>
            <a:pPr algn="ctr" marL="0" indent="0" lvl="0">
              <a:lnSpc>
                <a:spcPts val="3562"/>
              </a:lnSpc>
            </a:pPr>
            <a:r>
              <a:rPr lang="en-US" sz="231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Boyut İndirgeme Kazanımı: Dev boyutlu seyrek terim matrislerinden, her belge için yalnızca 100 boyutlu yoğun vektörlere geçiş sağlanarak bellek kullanımı ve işlem yükü dramatik biçimde azaltılır.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129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5"/>
              </a:lnSpc>
            </a:pPr>
            <a:r>
              <a:rPr lang="en-US" b="true" sz="435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Metodoloji II – LSH ve Olasılıksal Filtreleme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16452"/>
            <a:ext cx="9894900" cy="317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Bant ve Satır Tekniği (Bands &amp; Rows): MinHash imza matrisi 20 banda bölünmüş, her bant 5 satırdan oluşmaktadır.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Aday Çift Seçimi: Yalnızca aynı hash kovasına (bucket) düşen belgeler "Aday Çift" olarak işaretlenir; bu sayede karşılaştırma havuzu dramatik biçimde daralır.</a:t>
            </a:r>
          </a:p>
          <a:p>
            <a:pPr algn="ctr" marL="0" indent="0" lvl="0">
              <a:lnSpc>
                <a:spcPts val="4200"/>
              </a:lnSpc>
            </a:pPr>
            <a:r>
              <a:rPr lang="en-US" sz="27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Parametreler: 20 Bant × 5 Satır → eşik ≈ %55 Jaccard benzerliği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129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5"/>
              </a:lnSpc>
            </a:pPr>
            <a:r>
              <a:rPr lang="en-US" b="true" sz="435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Kesin Gerçeklik (Ground Truth) Altyapısı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35502"/>
            <a:ext cx="9894900" cy="260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8"/>
              </a:lnSpc>
            </a:pPr>
            <a:r>
              <a:rPr lang="en-US" sz="22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📊 Tam Sayım (Census): İstatistiksel örneklem yerine tüm veri seti üzerinde eksiksiz tarama uygulandı.</a:t>
            </a:r>
          </a:p>
          <a:p>
            <a:pPr algn="ctr" marL="0" indent="0" lvl="0">
              <a:lnSpc>
                <a:spcPts val="3508"/>
              </a:lnSpc>
            </a:pPr>
            <a:r>
              <a:rPr lang="en-US" sz="22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🔢 Taranan Kombinasyon: 21.950.677.101 (yaklaşık 22 Milyar eşleşme işlemi)</a:t>
            </a:r>
          </a:p>
          <a:p>
            <a:pPr algn="ctr" marL="0" indent="0" lvl="0">
              <a:lnSpc>
                <a:spcPts val="3508"/>
              </a:lnSpc>
            </a:pPr>
            <a:r>
              <a:rPr lang="en-US" sz="22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⚙️ Donanım: 12 Mantıksal İş Parçacıklı Paralel Mimari — kesintisiz tam tarama</a:t>
            </a:r>
          </a:p>
          <a:p>
            <a:pPr algn="ctr" marL="0" indent="0" lvl="0">
              <a:lnSpc>
                <a:spcPts val="3508"/>
              </a:lnSpc>
            </a:pPr>
            <a:r>
              <a:rPr lang="en-US" sz="22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⏱️ Toplam Süre: 3.23 Saat</a:t>
            </a:r>
          </a:p>
          <a:p>
            <a:pPr algn="ctr" marL="0" indent="0" lvl="0">
              <a:lnSpc>
                <a:spcPts val="3508"/>
              </a:lnSpc>
            </a:pPr>
            <a:r>
              <a:rPr lang="en-US" sz="22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✅ Sonuç: Hiçbir şüpheye yer bırakmayan mutlak Ground Truth elde edildi.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38439"/>
            <a:ext cx="8531143" cy="70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5"/>
              </a:lnSpc>
            </a:pPr>
            <a:r>
              <a:rPr lang="en-US" b="true" sz="435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Bulgular ve Performans Metrikleri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36970"/>
            <a:ext cx="10066336" cy="185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3"/>
              </a:lnSpc>
            </a:pPr>
            <a:r>
              <a:rPr lang="en-US" sz="32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Duyarlılık (Recall): %88.49</a:t>
            </a:r>
          </a:p>
          <a:p>
            <a:pPr algn="l" marL="0" indent="0" lvl="0">
              <a:lnSpc>
                <a:spcPts val="4963"/>
              </a:lnSpc>
            </a:pPr>
            <a:r>
              <a:rPr lang="en-US" sz="32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Kesinlik (Precision): %82.05</a:t>
            </a:r>
          </a:p>
          <a:p>
            <a:pPr algn="l" marL="0" indent="0" lvl="0">
              <a:lnSpc>
                <a:spcPts val="4963"/>
              </a:lnSpc>
            </a:pPr>
            <a:r>
              <a:rPr lang="en-US" sz="32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F1-Skoru: %85.15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0467"/>
            <a:ext cx="10066336" cy="185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3"/>
              </a:lnSpc>
            </a:pPr>
            <a:r>
              <a:rPr lang="en-US" sz="322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Confusion Matrix: 22 milyar kombinasyon üzerinde tam sayım (Ground Truth) ile karşılaştırıldı. Yanlış Negatif: 822 kaçan kopya. Yanlış Pozitif: 1.383 hatalı eşleşme.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3194621"/>
            <a:ext cx="13028518" cy="2466279"/>
            <a:chOff x="0" y="0"/>
            <a:chExt cx="3431379" cy="649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19389"/>
            <a:ext cx="8531143" cy="1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6"/>
              </a:lnSpc>
            </a:pPr>
            <a:r>
              <a:rPr lang="en-US" b="true" sz="636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Tartışma ve Hata Analizi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0832" y="3446495"/>
            <a:ext cx="10066336" cy="147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Zaman Kazancı: 3.23 saatten saniye/dakikalara düşüş — O(N²) kaba kuvvet yerine LSH ile olasılıksal filtreleme sayesinde hesaplama süresi dramatik biçimde azaltıldı.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629741" y="6060950"/>
            <a:ext cx="13028518" cy="2466279"/>
            <a:chOff x="0" y="0"/>
            <a:chExt cx="3431379" cy="649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1379" cy="649555"/>
            </a:xfrm>
            <a:custGeom>
              <a:avLst/>
              <a:gdLst/>
              <a:ahLst/>
              <a:cxnLst/>
              <a:rect r="r" b="b" t="t" l="l"/>
              <a:pathLst>
                <a:path h="649555" w="3431379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85368" y="6259992"/>
            <a:ext cx="10066336" cy="196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7"/>
              </a:lnSpc>
            </a:pPr>
            <a:r>
              <a:rPr lang="en-US" sz="256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Yanlış Negatifler (822 kaçan kopya): Olasılıksal eşiğin %55 altında kalma veya MinHash çakışması yaşayamama. Yanlış Pozitifler (1383 hatalı eşleşme): Haber ajanslarının standart kalıp cümlelerinin (boilerplate) yarattığı suni Jaccard benzerliği.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47964"/>
            <a:ext cx="8531143" cy="71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5"/>
              </a:lnSpc>
            </a:pPr>
            <a:r>
              <a:rPr lang="en-US" b="true" sz="4518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Olası Jüri Soruları İçin "Savunma"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54552"/>
            <a:ext cx="9894900" cy="290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Neden F1, Recall ve Precision kullanıldı?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Kopya tespitinde hem kaçan kopyalar (FN) hem hatalı eşleşmeler (FP) kritik öneme sahiptir; F1 bu ikisini dengeler.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Sınıf Dengesizliği ve 22 Milyar True Negative (TN) Etkisi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Veri setinde 22 milyar TN bulunmaktadır; bu durum Accuracy ve ROC/AUC metriklerini yanıltıcı kılar.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Neden ROC Eğrisi Kullanılmadı?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LSH ikili (binary) bir filtredir; sürekli olasılık dağılımı üretmez.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22 milyar TN ile FPR ≈ 0 olacağından ROC eğrisi "kusursuz" görünerek istatistiksel yanılsamaya yol açar.</a:t>
            </a:r>
          </a:p>
          <a:p>
            <a:pPr algn="ctr" marL="0" indent="0" lvl="0">
              <a:lnSpc>
                <a:spcPts val="2551"/>
              </a:lnSpc>
            </a:pPr>
            <a:r>
              <a:rPr lang="en-US" sz="16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Veri madenciliği standartlarına uygun olarak Precision-Recall tercih edilmiştir.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138605"/>
            <a:chOff x="0" y="0"/>
            <a:chExt cx="3259624" cy="13533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353377"/>
            </a:xfrm>
            <a:custGeom>
              <a:avLst/>
              <a:gdLst/>
              <a:ahLst/>
              <a:cxnLst/>
              <a:rect r="r" b="b" t="t" l="l"/>
              <a:pathLst>
                <a:path h="1353377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1528914"/>
            <a:ext cx="8531143" cy="88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65"/>
              </a:lnSpc>
            </a:pPr>
            <a:r>
              <a:rPr lang="en-US" b="true" sz="548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Sonuç ve Gelecek Çalışmalar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4435502"/>
            <a:ext cx="9894900" cy="2852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2"/>
              </a:lnSpc>
            </a:pPr>
            <a:r>
              <a:rPr lang="en-US" sz="2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✔ Büyük verilerde koordineli içerik bulma sorunu başarıyla çözüldü.</a:t>
            </a:r>
          </a:p>
          <a:p>
            <a:pPr algn="ctr" marL="0" indent="0" lvl="0">
              <a:lnSpc>
                <a:spcPts val="3242"/>
              </a:lnSpc>
            </a:pPr>
            <a:r>
              <a:rPr lang="en-US" sz="2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✔ Derin öğrenme modelleri olmadan MinHash + LSH ile %85 F1 başarısı elde edildi.</a:t>
            </a:r>
          </a:p>
          <a:p>
            <a:pPr algn="ctr" marL="0" indent="0" lvl="0">
              <a:lnSpc>
                <a:spcPts val="3242"/>
              </a:lnSpc>
            </a:pPr>
            <a:r>
              <a:rPr lang="en-US" sz="2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Gelecek Çalışma Önerileri:</a:t>
            </a:r>
          </a:p>
          <a:p>
            <a:pPr algn="ctr" marL="0" indent="0" lvl="0">
              <a:lnSpc>
                <a:spcPts val="3242"/>
              </a:lnSpc>
            </a:pPr>
            <a:r>
              <a:rPr lang="en-US" sz="2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Adaptive Shingling: Shingle boyutunun (k) metin uzunluğuna göre dinamik ayarlanması</a:t>
            </a:r>
          </a:p>
          <a:p>
            <a:pPr algn="ctr" marL="0" indent="0" lvl="0">
              <a:lnSpc>
                <a:spcPts val="3242"/>
              </a:lnSpc>
            </a:pPr>
            <a:r>
              <a:rPr lang="en-US" sz="2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• Apache Spark ile dağıtık kümelerde (cluster) ölçeklendirilmesi</a:t>
            </a:r>
          </a:p>
          <a:p>
            <a:pPr algn="ctr" marL="0" indent="0" lvl="0">
              <a:lnSpc>
                <a:spcPts val="3242"/>
              </a:lnSpc>
            </a:pPr>
            <a:r>
              <a:rPr lang="en-US" sz="2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Teşekkürler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3953" y="3707772"/>
            <a:ext cx="13185517" cy="173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00"/>
              </a:lnSpc>
            </a:pPr>
            <a:r>
              <a:rPr lang="en-US" sz="10841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Teşekkürler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DAHLtQad034</dc:identifier>
  <dcterms:modified xsi:type="dcterms:W3CDTF">2011-08-01T06:04:30Z</dcterms:modified>
  <cp:revision>1</cp:revision>
  <dc:title>MinHash ve LSH ile Koordineli İçerik Tespiti</dc:title>
</cp:coreProperties>
</file>